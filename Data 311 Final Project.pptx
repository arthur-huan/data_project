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Source Code Pro"/>
      <p:regular r:id="rId22"/>
      <p:bold r:id="rId23"/>
      <p:italic r:id="rId24"/>
      <p:boldItalic r:id="rId25"/>
    </p:embeddedFont>
    <p:embeddedFont>
      <p:font typeface="PT Sans"/>
      <p:regular r:id="rId26"/>
      <p:bold r:id="rId27"/>
      <p:italic r:id="rId28"/>
      <p:boldItalic r:id="rId29"/>
    </p:embeddedFont>
    <p:embeddedFont>
      <p:font typeface="IBM Plex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regular.fntdata"/><Relationship Id="rId25" Type="http://schemas.openxmlformats.org/officeDocument/2006/relationships/font" Target="fonts/SourceCodePro-boldItalic.fntdata"/><Relationship Id="rId28" Type="http://schemas.openxmlformats.org/officeDocument/2006/relationships/font" Target="fonts/PTSans-italic.fntdata"/><Relationship Id="rId27" Type="http://schemas.openxmlformats.org/officeDocument/2006/relationships/font" Target="fonts/PT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T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Mono-bold.fntdata"/><Relationship Id="rId30" Type="http://schemas.openxmlformats.org/officeDocument/2006/relationships/font" Target="fonts/IBMPlexMono-regular.fntdata"/><Relationship Id="rId11" Type="http://schemas.openxmlformats.org/officeDocument/2006/relationships/slide" Target="slides/slide7.xml"/><Relationship Id="rId33" Type="http://schemas.openxmlformats.org/officeDocument/2006/relationships/font" Target="fonts/IBMPlexMono-boldItalic.fntdata"/><Relationship Id="rId10" Type="http://schemas.openxmlformats.org/officeDocument/2006/relationships/slide" Target="slides/slide6.xml"/><Relationship Id="rId32" Type="http://schemas.openxmlformats.org/officeDocument/2006/relationships/font" Target="fonts/IBMPlex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a5f1525ab1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a5f1525ab1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4e6b4d5c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4e6b4d5c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a5eda880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a5eda880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a5f1525ab1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2a5f1525ab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a5f1525ab1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a5f1525ab1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2a5f1525ab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2a5f1525ab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2a5f1525ab1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2a5f1525ab1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a5f1525ab1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a5f1525ab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7" name="Google Shape;177;p5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5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r="100%"/>
                      </a:path>
                      <a:tileRect l="-10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r="100%"/>
                      </a:path>
                      <a:tileRect l="-10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r="100%"/>
                      </a:path>
                      <a:tileRect l="-10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b="17663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40" name="Google Shape;3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/>
          <p:nvPr>
            <p:ph type="title"/>
          </p:nvPr>
        </p:nvSpPr>
        <p:spPr>
          <a:xfrm>
            <a:off x="720000" y="919750"/>
            <a:ext cx="31452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7" name="Google Shape;377;p9"/>
          <p:cNvSpPr txBox="1"/>
          <p:nvPr>
            <p:ph idx="1" type="subTitle"/>
          </p:nvPr>
        </p:nvSpPr>
        <p:spPr>
          <a:xfrm>
            <a:off x="720000" y="2628350"/>
            <a:ext cx="31452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78" name="Google Shape;378;p9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10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6" name="Google Shape;496;p13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13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13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3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3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5" name="Google Shape;505;p1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6" name="Google Shape;506;p13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7" name="Google Shape;507;p13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6" name="Google Shape;546;p14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21" name="Google Shape;721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2" name="Google Shape;722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23" name="Google Shape;723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24" name="Google Shape;724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6" name="Google Shape;726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27" name="Google Shape;727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29" name="Google Shape;72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0" name="Google Shape;730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31" name="Google Shape;731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4" name="Google Shape;734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35" name="Google Shape;735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38" name="Google Shape;738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41" name="Google Shape;74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44" name="Google Shape;744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45" name="Google Shape;745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18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52" name="Google Shape;752;p1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4" name="Google Shape;754;p18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5" name="Google Shape;755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756" name="Google Shape;756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8" name="Google Shape;758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19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19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20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21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3" name="Google Shape;92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4" name="Google Shape;924;p22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5" name="Google Shape;925;p22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23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6" name="Google Shape;976;p23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7" name="Google Shape;977;p23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78" name="Google Shape;978;p23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979" name="Google Shape;979;p23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r="100%"/>
                    </a:path>
                    <a:tileRect l="-10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58" name="Google Shape;1058;p24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24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24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1" name="Google Shape;106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" name="Google Shape;1062;p24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3" name="Google Shape;1063;p24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4" name="Google Shape;1064;p24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3" name="Google Shape;1113;p25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25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6" name="Google Shape;1116;p25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7" name="Google Shape;1117;p25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8" name="Google Shape;1118;p25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9" name="Google Shape;1119;p25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0" name="Google Shape;1120;p25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1" name="Google Shape;1121;p25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6" name="Google Shape;1166;p26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26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26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9" name="Google Shape;1169;p26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0" name="Google Shape;1170;p26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1" name="Google Shape;1171;p26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2" name="Google Shape;1172;p26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3" name="Google Shape;1173;p26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7" name="Google Shape;1217;p27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27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9" name="Google Shape;1219;p27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27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27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2" name="Google Shape;1222;p27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3" name="Google Shape;1223;p27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4" name="Google Shape;1224;p27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5" name="Google Shape;1225;p27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6" name="Google Shape;1226;p27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7" name="Google Shape;1227;p27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8" name="Google Shape;1228;p27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7" name="Google Shape;1267;p28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68" name="Google Shape;1268;p28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9" name="Google Shape;1269;p28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0" name="Google Shape;1270;p28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1" name="Google Shape;1271;p28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2" name="Google Shape;1272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3" name="Google Shape;1273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274" name="Google Shape;1274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277" name="Google Shape;1277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8" name="Google Shape;1278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9" name="Google Shape;1279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9"/>
          <p:cNvSpPr txBox="1"/>
          <p:nvPr>
            <p:ph type="title"/>
          </p:nvPr>
        </p:nvSpPr>
        <p:spPr>
          <a:xfrm>
            <a:off x="1157288" y="68527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2" name="Google Shape;1282;p29"/>
          <p:cNvSpPr txBox="1"/>
          <p:nvPr>
            <p:ph idx="1" type="subTitle"/>
          </p:nvPr>
        </p:nvSpPr>
        <p:spPr>
          <a:xfrm>
            <a:off x="1157250" y="2203275"/>
            <a:ext cx="4448100" cy="100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3" name="Google Shape;1283;p29"/>
          <p:cNvSpPr txBox="1"/>
          <p:nvPr>
            <p:ph idx="2" type="subTitle"/>
          </p:nvPr>
        </p:nvSpPr>
        <p:spPr>
          <a:xfrm>
            <a:off x="1157250" y="1800075"/>
            <a:ext cx="44481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4" name="Google Shape;1284;p29"/>
          <p:cNvSpPr txBox="1"/>
          <p:nvPr/>
        </p:nvSpPr>
        <p:spPr>
          <a:xfrm>
            <a:off x="1157300" y="32864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85" name="Google Shape;1285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286" name="Google Shape;1286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287" name="Google Shape;1287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9" name="Google Shape;1289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290" name="Google Shape;1290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91" name="Google Shape;1291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2" name="Google Shape;1292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93" name="Google Shape;1293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4" name="Google Shape;1294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5" name="Google Shape;1295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6" name="Google Shape;1296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7" name="Google Shape;1297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8" name="Google Shape;1298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9" name="Google Shape;1299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300" name="Google Shape;1300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4" name="Google Shape;1304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05" name="Google Shape;1305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6" name="Google Shape;1306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07" name="Google Shape;1307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8" name="Google Shape;1308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9" name="Google Shape;1309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0" name="Google Shape;1310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1" name="Google Shape;1311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2" name="Google Shape;1312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13" name="Google Shape;1313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4" name="Google Shape;1314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15" name="Google Shape;1315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6" name="Google Shape;1316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17" name="Google Shape;1317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8" name="Google Shape;1318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9" name="Google Shape;1319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0" name="Google Shape;1320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1" name="Google Shape;1321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2" name="Google Shape;1322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23" name="Google Shape;1323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4" name="Google Shape;1324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25" name="Google Shape;1325;p29"/>
            <p:cNvPicPr preferRelativeResize="0"/>
            <p:nvPr/>
          </p:nvPicPr>
          <p:blipFill rotWithShape="1">
            <a:blip r:embed="rId5">
              <a:alphaModFix/>
            </a:blip>
            <a:srcRect b="26177" l="16960" r="7121" t="24718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6" name="Google Shape;1326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27" name="Google Shape;1327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1" name="Google Shape;1331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32" name="Google Shape;1332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3" name="Google Shape;1333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4" name="Google Shape;1334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6" name="Google Shape;1336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7" name="Google Shape;1337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r="100%"/>
                  </a:path>
                  <a:tileRect l="-10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3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Arthur, Alisha, Kirthik</a:t>
            </a:r>
            <a:endParaRPr/>
          </a:p>
        </p:txBody>
      </p:sp>
      <p:sp>
        <p:nvSpPr>
          <p:cNvPr id="1426" name="Google Shape;1426;p3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311 Final Project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427" name="Google Shape;1427;p32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28" name="Google Shape;1428;p32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9" name="Google Shape;1429;p32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0" name="Google Shape;1430;p32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32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32" name="Google Shape;1432;p32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3" name="Google Shape;1433;p32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4" name="Google Shape;1434;p32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5" name="Google Shape;1435;p32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6" name="Google Shape;1436;p32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37" name="Google Shape;1437;p32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8" name="Google Shape;1438;p32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39" name="Google Shape;1439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1" name="Google Shape;1441;p32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2" name="Google Shape;1442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4" name="Google Shape;1444;p32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45" name="Google Shape;1445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47" name="Google Shape;1447;p32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453" name="Google Shape;1453;p33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3"/>
                </a:highlight>
                <a:latin typeface="Roboto"/>
                <a:ea typeface="Roboto"/>
                <a:cs typeface="Roboto"/>
                <a:sym typeface="Roboto"/>
              </a:rPr>
              <a:t>Briefly introduce the project and its purpose.</a:t>
            </a:r>
            <a:endParaRPr sz="1200">
              <a:solidFill>
                <a:schemeClr val="dk2"/>
              </a:solidFill>
              <a:highlight>
                <a:schemeClr val="accent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3"/>
                </a:highlight>
                <a:latin typeface="Roboto"/>
                <a:ea typeface="Roboto"/>
                <a:cs typeface="Roboto"/>
                <a:sym typeface="Roboto"/>
              </a:rPr>
              <a:t>Mention that Chirrup is a command-line interface application for social media interactions, similar to Twitter.</a:t>
            </a:r>
            <a:endParaRPr sz="1200">
              <a:solidFill>
                <a:schemeClr val="dk2"/>
              </a:solidFill>
              <a:highlight>
                <a:schemeClr val="accent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34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459" name="Google Shape;1459;p34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60" name="Google Shape;1460;p3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1" name="Google Shape;1461;p34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62" name="Google Shape;1462;p3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3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65" name="Google Shape;1465;p34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Project Structure</a:t>
            </a:r>
            <a:endParaRPr sz="4200"/>
          </a:p>
        </p:txBody>
      </p:sp>
      <p:grpSp>
        <p:nvGrpSpPr>
          <p:cNvPr id="1466" name="Google Shape;1466;p34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67" name="Google Shape;1467;p34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4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4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4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4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2" name="Google Shape;1472;p3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3" name="Google Shape;1473;p34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74" name="Google Shape;1474;p3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3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3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3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3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3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1" name="Google Shape;1481;p34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82" name="Google Shape;1482;p3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3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3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3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9" name="Google Shape;1489;p34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490" name="Google Shape;1490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2" name="Google Shape;1492;p34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493" name="Google Shape;1493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5" name="Google Shape;1495;p34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6" name="Google Shape;1496;p34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497" name="Google Shape;1497;p34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8" name="Google Shape;1498;p34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99" name="Google Shape;1499;p34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5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505" name="Google Shape;1505;p35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06" name="Google Shape;1506;p35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7" name="Google Shape;1507;p35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08" name="Google Shape;1508;p3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11" name="Google Shape;1511;p35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Use Cases</a:t>
            </a:r>
            <a:endParaRPr sz="4200"/>
          </a:p>
        </p:txBody>
      </p:sp>
      <p:grpSp>
        <p:nvGrpSpPr>
          <p:cNvPr id="1512" name="Google Shape;1512;p35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513" name="Google Shape;1513;p35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5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5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5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5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18" name="Google Shape;1518;p35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9" name="Google Shape;1519;p35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20" name="Google Shape;1520;p3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5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28" name="Google Shape;1528;p3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5" name="Google Shape;1535;p35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36" name="Google Shape;1536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8" name="Google Shape;1538;p35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39" name="Google Shape;1539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41" name="Google Shape;1541;p35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2" name="Google Shape;1542;p35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43" name="Google Shape;1543;p3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44" name="Google Shape;1544;p3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5" name="Google Shape;1545;p3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36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551" name="Google Shape;1551;p36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52" name="Google Shape;1552;p3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53" name="Google Shape;1553;p36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54" name="Google Shape;1554;p3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3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57" name="Google Shape;1557;p36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Showcase</a:t>
            </a:r>
            <a:endParaRPr sz="4200"/>
          </a:p>
        </p:txBody>
      </p:sp>
      <p:grpSp>
        <p:nvGrpSpPr>
          <p:cNvPr id="1558" name="Google Shape;1558;p36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559" name="Google Shape;1559;p36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6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6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6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64" name="Google Shape;1564;p3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65" name="Google Shape;1565;p36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66" name="Google Shape;1566;p3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3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3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6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74" name="Google Shape;1574;p3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3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1" name="Google Shape;1581;p36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82" name="Google Shape;1582;p3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4" name="Google Shape;1584;p36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85" name="Google Shape;1585;p36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36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87" name="Google Shape;1587;p36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8" name="Google Shape;1588;p36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89" name="Google Shape;1589;p36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0" name="Google Shape;1590;p36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1" name="Google Shape;1591;p36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2" name="Google Shape;1592;p36"/>
          <p:cNvSpPr txBox="1"/>
          <p:nvPr/>
        </p:nvSpPr>
        <p:spPr>
          <a:xfrm>
            <a:off x="1651125" y="3314700"/>
            <a:ext cx="54492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Include a screenshot or code snippet of the CLI help menu.</a:t>
            </a:r>
            <a:endParaRPr sz="1200">
              <a:solidFill>
                <a:schemeClr val="dk2"/>
              </a:solidFill>
              <a:highlight>
                <a:schemeClr val="accent6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Emphasize the simplicity and user-friendly nature of the command-line interface.</a:t>
            </a:r>
            <a:endParaRPr sz="1200">
              <a:solidFill>
                <a:schemeClr val="dk2"/>
              </a:solidFill>
              <a:highlight>
                <a:schemeClr val="accent6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7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1598" name="Google Shape;1598;p37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599" name="Google Shape;1599;p37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highlight>
                  <a:schemeClr val="accent3"/>
                </a:highlight>
                <a:latin typeface="Roboto"/>
                <a:ea typeface="Roboto"/>
                <a:cs typeface="Roboto"/>
                <a:sym typeface="Roboto"/>
              </a:rPr>
              <a:t>List the main features of Chirrup:</a:t>
            </a:r>
            <a:endParaRPr>
              <a:solidFill>
                <a:schemeClr val="accent1"/>
              </a:solidFill>
              <a:highlight>
                <a:schemeClr val="accent3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38"/>
          <p:cNvSpPr txBox="1"/>
          <p:nvPr>
            <p:ph type="title"/>
          </p:nvPr>
        </p:nvSpPr>
        <p:spPr>
          <a:xfrm>
            <a:off x="720000" y="1937450"/>
            <a:ext cx="84240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Sample CLI help menu</a:t>
            </a:r>
            <a:endParaRPr/>
          </a:p>
        </p:txBody>
      </p:sp>
      <p:sp>
        <p:nvSpPr>
          <p:cNvPr id="1605" name="Google Shape;1605;p38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06" name="Google Shape;1606;p38"/>
          <p:cNvSpPr txBox="1"/>
          <p:nvPr>
            <p:ph idx="1" type="subTitle"/>
          </p:nvPr>
        </p:nvSpPr>
        <p:spPr>
          <a:xfrm>
            <a:off x="720000" y="3252375"/>
            <a:ext cx="6135600" cy="9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3"/>
                </a:highlight>
                <a:latin typeface="Roboto"/>
                <a:ea typeface="Roboto"/>
                <a:cs typeface="Roboto"/>
                <a:sym typeface="Roboto"/>
              </a:rPr>
              <a:t>Include a screenshot or code snippet of the CLI help menu.</a:t>
            </a:r>
            <a:endParaRPr sz="1200">
              <a:solidFill>
                <a:schemeClr val="dk2"/>
              </a:solidFill>
              <a:highlight>
                <a:schemeClr val="accent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3"/>
                </a:highlight>
                <a:latin typeface="Roboto"/>
                <a:ea typeface="Roboto"/>
                <a:cs typeface="Roboto"/>
                <a:sym typeface="Roboto"/>
              </a:rPr>
              <a:t>Emphasize the simplicity and user-friendly nature of the command-line interface.</a:t>
            </a:r>
            <a:endParaRPr sz="1200">
              <a:solidFill>
                <a:schemeClr val="dk2"/>
              </a:solidFill>
              <a:highlight>
                <a:schemeClr val="accent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39"/>
          <p:cNvSpPr txBox="1"/>
          <p:nvPr>
            <p:ph type="title"/>
          </p:nvPr>
        </p:nvSpPr>
        <p:spPr>
          <a:xfrm>
            <a:off x="720000" y="2079325"/>
            <a:ext cx="830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 Guidlines</a:t>
            </a:r>
            <a:endParaRPr/>
          </a:p>
        </p:txBody>
      </p:sp>
      <p:sp>
        <p:nvSpPr>
          <p:cNvPr id="1612" name="Google Shape;1612;p39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613" name="Google Shape;1613;p39"/>
          <p:cNvSpPr txBox="1"/>
          <p:nvPr>
            <p:ph idx="1" type="subTitle"/>
          </p:nvPr>
        </p:nvSpPr>
        <p:spPr>
          <a:xfrm>
            <a:off x="720000" y="3252375"/>
            <a:ext cx="6614400" cy="12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highlight>
                  <a:schemeClr val="accent5"/>
                </a:highlight>
                <a:latin typeface="Roboto"/>
                <a:ea typeface="Roboto"/>
                <a:cs typeface="Roboto"/>
                <a:sym typeface="Roboto"/>
              </a:rPr>
              <a:t>Instructions for running the Chirrup CLI:</a:t>
            </a:r>
            <a:endParaRPr sz="1200">
              <a:solidFill>
                <a:schemeClr val="dk2"/>
              </a:solidFill>
              <a:highlight>
                <a:schemeClr val="accent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5"/>
                </a:highlight>
                <a:latin typeface="Roboto"/>
                <a:ea typeface="Roboto"/>
                <a:cs typeface="Roboto"/>
                <a:sym typeface="Roboto"/>
              </a:rPr>
              <a:t>Include commands for starting the CLI using Python or Poetry.</a:t>
            </a:r>
            <a:endParaRPr sz="1200">
              <a:solidFill>
                <a:schemeClr val="dk2"/>
              </a:solidFill>
              <a:highlight>
                <a:schemeClr val="accent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5"/>
                </a:highlight>
                <a:latin typeface="Roboto"/>
                <a:ea typeface="Roboto"/>
                <a:cs typeface="Roboto"/>
                <a:sym typeface="Roboto"/>
              </a:rPr>
              <a:t>Mention any additional considerations or setup steps</a:t>
            </a:r>
            <a:r>
              <a:rPr lang="en" sz="1200">
                <a:solidFill>
                  <a:srgbClr val="D1D5DB"/>
                </a:solidFill>
                <a:highlight>
                  <a:srgbClr val="343541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D1D5DB"/>
              </a:solidFill>
              <a:highlight>
                <a:srgbClr val="34354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40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19" name="Google Shape;1619;p40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1620" name="Google Shape;1620;p40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3"/>
                </a:highlight>
                <a:latin typeface="Roboto"/>
                <a:ea typeface="Roboto"/>
                <a:cs typeface="Roboto"/>
                <a:sym typeface="Roboto"/>
              </a:rPr>
              <a:t>Recap the main points of the presentation.</a:t>
            </a:r>
            <a:endParaRPr sz="1200">
              <a:solidFill>
                <a:schemeClr val="dk2"/>
              </a:solidFill>
              <a:highlight>
                <a:schemeClr val="accent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2"/>
                </a:solidFill>
                <a:highlight>
                  <a:schemeClr val="accent3"/>
                </a:highlight>
                <a:latin typeface="Roboto"/>
                <a:ea typeface="Roboto"/>
                <a:cs typeface="Roboto"/>
                <a:sym typeface="Roboto"/>
              </a:rPr>
              <a:t>Encourage users to explore Chirrup and provide feedback.</a:t>
            </a:r>
            <a:endParaRPr sz="1200">
              <a:solidFill>
                <a:schemeClr val="dk2"/>
              </a:solidFill>
              <a:highlight>
                <a:schemeClr val="accent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